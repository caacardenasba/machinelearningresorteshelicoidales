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7"/>
  </p:notesMasterIdLst>
  <p:sldIdLst>
    <p:sldId id="264" r:id="rId2"/>
    <p:sldId id="266" r:id="rId3"/>
    <p:sldId id="267" r:id="rId4"/>
    <p:sldId id="273" r:id="rId5"/>
    <p:sldId id="275" r:id="rId6"/>
    <p:sldId id="269" r:id="rId7"/>
    <p:sldId id="292" r:id="rId8"/>
    <p:sldId id="280" r:id="rId9"/>
    <p:sldId id="281" r:id="rId10"/>
    <p:sldId id="270" r:id="rId11"/>
    <p:sldId id="278" r:id="rId12"/>
    <p:sldId id="283" r:id="rId13"/>
    <p:sldId id="279" r:id="rId14"/>
    <p:sldId id="290" r:id="rId15"/>
    <p:sldId id="277" r:id="rId16"/>
    <p:sldId id="282" r:id="rId17"/>
    <p:sldId id="293" r:id="rId18"/>
    <p:sldId id="286" r:id="rId19"/>
    <p:sldId id="284" r:id="rId20"/>
    <p:sldId id="294" r:id="rId21"/>
    <p:sldId id="287" r:id="rId22"/>
    <p:sldId id="288" r:id="rId23"/>
    <p:sldId id="289" r:id="rId24"/>
    <p:sldId id="268" r:id="rId25"/>
    <p:sldId id="260" r:id="rId26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9E3"/>
    <a:srgbClr val="F2E6CC"/>
    <a:srgbClr val="E03A00"/>
    <a:srgbClr val="172B7E"/>
    <a:srgbClr val="2BA287"/>
    <a:srgbClr val="19A78C"/>
    <a:srgbClr val="19937C"/>
    <a:srgbClr val="43AB97"/>
    <a:srgbClr val="CC008C"/>
    <a:srgbClr val="00A4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969" autoAdjust="0"/>
  </p:normalViewPr>
  <p:slideViewPr>
    <p:cSldViewPr snapToGrid="0" snapToObjects="1">
      <p:cViewPr varScale="1">
        <p:scale>
          <a:sx n="94" d="100"/>
          <a:sy n="94" d="100"/>
        </p:scale>
        <p:origin x="678" y="7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806D32-3F26-4A60-B79B-32791D3BB2C9}" type="datetimeFigureOut">
              <a:rPr lang="es-CO" smtClean="0"/>
              <a:t>3/12/2025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695FE-B573-405B-994F-FAFC23062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2910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DC620-E659-49B0-9EFB-BB66AA813A77}" type="datetime1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1178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368595"/>
            <a:ext cx="8229600" cy="694634"/>
          </a:xfrm>
        </p:spPr>
        <p:txBody>
          <a:bodyPr>
            <a:noAutofit/>
          </a:bodyPr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77E6E-80CA-4637-84D1-CB00AA43C9A5}" type="datetime1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01256" y="18054"/>
            <a:ext cx="2133600" cy="273844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s-ES" dirty="0"/>
              <a:t>Página </a:t>
            </a:r>
            <a:fld id="{90BC2BA4-81C0-F544-BD72-C8CB9DA7C802}" type="slidenum">
              <a:rPr lang="es-ES" smtClean="0"/>
              <a:pPr/>
              <a:t>‹Nº›</a:t>
            </a:fld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055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2299790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1174649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04BB-03C1-49D0-8ADB-9D0B173DA53B}" type="datetime1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98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8A97A-0D3F-47CA-A347-054B7FE5852E}" type="datetime1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1D78991F-287D-0639-B3A9-25B72B76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3036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C8795-6BD1-4429-BD75-9B388C62CDEE}" type="datetime1">
              <a:rPr lang="es-ES" smtClean="0"/>
              <a:t>03/12/2025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2016B63-56CA-91C8-8D94-3736CC5D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454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6A773-67CF-4861-89BB-2127413ABA21}" type="datetime1">
              <a:rPr lang="es-ES" smtClean="0"/>
              <a:t>03/12/2025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ED5BEC-1B11-157D-6B6B-7EC9DA385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8878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ADB17-4F6B-498B-894E-4985DAFC70C1}" type="datetime1">
              <a:rPr lang="es-ES" smtClean="0"/>
              <a:t>03/12/2025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29E16D5E-FC12-627C-C32C-2D79CE9D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841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5D58-D3C6-4A98-BBED-E11D62DD4FB7}" type="datetime1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27E0BABE-B629-4063-8894-C3E90357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397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8C981-BD54-46FE-919F-B5B29C8804F4}" type="datetime1">
              <a:rPr lang="es-ES" smtClean="0"/>
              <a:t>03/12/2025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8F88F565-A7F0-7C19-A7F7-953C9727E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43786" y="0"/>
            <a:ext cx="2133600" cy="273844"/>
          </a:xfrm>
        </p:spPr>
        <p:txBody>
          <a:bodyPr/>
          <a:lstStyle>
            <a:lvl1pPr algn="l">
              <a:defRPr/>
            </a:lvl1pPr>
          </a:lstStyle>
          <a:p>
            <a:fld id="{90BC2BA4-81C0-F544-BD72-C8CB9DA7C802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998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311887"/>
            <a:ext cx="8229600" cy="7513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30C37-EE32-4163-B0FE-3AD7FB21F6FB}" type="datetime1">
              <a:rPr lang="es-ES" smtClean="0"/>
              <a:t>03/12/2025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C2BA4-81C0-F544-BD72-C8CB9DA7C8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3161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76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 txBox="1">
            <a:spLocks/>
          </p:cNvSpPr>
          <p:nvPr/>
        </p:nvSpPr>
        <p:spPr>
          <a:xfrm>
            <a:off x="1073516" y="591031"/>
            <a:ext cx="7020692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dirty="0">
                <a:solidFill>
                  <a:schemeClr val="accent3"/>
                </a:solidFill>
                <a:latin typeface="Ancizar Serif"/>
                <a:cs typeface="Ancizar Serif"/>
              </a:rPr>
              <a:t>Carlos Andres Cardenas Ballares</a:t>
            </a:r>
          </a:p>
        </p:txBody>
      </p:sp>
      <p:cxnSp>
        <p:nvCxnSpPr>
          <p:cNvPr id="4" name="Conector recto 3"/>
          <p:cNvCxnSpPr/>
          <p:nvPr/>
        </p:nvCxnSpPr>
        <p:spPr>
          <a:xfrm>
            <a:off x="1678804" y="2533120"/>
            <a:ext cx="5810117" cy="0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CuadroTexto 4"/>
          <p:cNvSpPr txBox="1"/>
          <p:nvPr/>
        </p:nvSpPr>
        <p:spPr>
          <a:xfrm>
            <a:off x="1471367" y="1530077"/>
            <a:ext cx="6367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4"/>
                </a:solidFill>
                <a:latin typeface="Ancizar Sans"/>
                <a:cs typeface="Ancizar Sans"/>
              </a:rPr>
              <a:t>Desarrollo de una estrategia de diseño asistido por una inteligencia artificial de resortes helicoidales bajo restricciones de manufactura IMAL SA</a:t>
            </a:r>
          </a:p>
        </p:txBody>
      </p:sp>
      <p:sp>
        <p:nvSpPr>
          <p:cNvPr id="7" name="Título 1"/>
          <p:cNvSpPr txBox="1">
            <a:spLocks/>
          </p:cNvSpPr>
          <p:nvPr/>
        </p:nvSpPr>
        <p:spPr>
          <a:xfrm>
            <a:off x="1471366" y="2956042"/>
            <a:ext cx="6201268" cy="7275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1800" dirty="0">
                <a:solidFill>
                  <a:schemeClr val="accent3"/>
                </a:solidFill>
                <a:latin typeface="Ancizar Serif"/>
                <a:cs typeface="Ancizar Serif"/>
              </a:rPr>
              <a:t>Facultad Ingeniería–Departamento de mecánica y mecatrónica- Sede Bogotá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185DE8-C48F-FD75-EF42-14FD2D299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0442804"/>
      </p:ext>
    </p:extLst>
  </p:cSld>
  <p:clrMapOvr>
    <a:masterClrMapping/>
  </p:clrMapOvr>
  <p:transition spd="slow"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Contenido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de ingeniería</a:t>
            </a:r>
            <a:endParaRPr lang="en-US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8071200" cy="2321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Introducción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Objetivos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Resortes mecánicos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Desarrollo producto de resortes helicoidales en IMAL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Modelo de machine </a:t>
            </a:r>
            <a:r>
              <a:rPr lang="es-CO" dirty="0" err="1"/>
              <a:t>learning</a:t>
            </a:r>
            <a:endParaRPr lang="es-CO" dirty="0"/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Conclusiones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Reflexiones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855C34E-49A4-E9E8-72CE-F1DF8217C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4197626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ED00-4A80-4E6C-AFE0-77D5255D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270A4946-9D2C-F908-5DE8-57C8BCABB982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Introducción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5E94DEA-D89E-5F3B-6E5D-586AB6B1BE80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01B469B-1554-D721-8FA7-9E5097832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6" name="Imagen 5" descr="Gráfico, Gráfico radial&#10;&#10;El contenido generado por IA puede ser incorrecto.">
            <a:extLst>
              <a:ext uri="{FF2B5EF4-FFF2-40B4-BE49-F238E27FC236}">
                <a16:creationId xmlns:a16="http://schemas.microsoft.com/office/drawing/2014/main" id="{C858306F-6AD9-CA4F-F43A-C535BA88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96" y="984091"/>
            <a:ext cx="2753504" cy="2753504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6E63E9D7-005A-CA1B-B99E-77741E08CC60}"/>
              </a:ext>
            </a:extLst>
          </p:cNvPr>
          <p:cNvSpPr/>
          <p:nvPr/>
        </p:nvSpPr>
        <p:spPr>
          <a:xfrm>
            <a:off x="1036320" y="1574800"/>
            <a:ext cx="457200" cy="182880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highlight>
                <a:srgbClr val="FF0000"/>
              </a:highlight>
            </a:endParaRPr>
          </a:p>
        </p:txBody>
      </p:sp>
      <p:pic>
        <p:nvPicPr>
          <p:cNvPr id="14" name="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684A3AC4-2534-B957-D4F0-9087A0499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480" y="1345561"/>
            <a:ext cx="4544059" cy="1057423"/>
          </a:xfrm>
          <a:prstGeom prst="rect">
            <a:avLst/>
          </a:prstGeom>
        </p:spPr>
      </p:pic>
      <p:sp>
        <p:nvSpPr>
          <p:cNvPr id="15" name="Título 1">
            <a:extLst>
              <a:ext uri="{FF2B5EF4-FFF2-40B4-BE49-F238E27FC236}">
                <a16:creationId xmlns:a16="http://schemas.microsoft.com/office/drawing/2014/main" id="{C610C356-926E-0E9E-D5B8-A4AC0B804AFC}"/>
              </a:ext>
            </a:extLst>
          </p:cNvPr>
          <p:cNvSpPr txBox="1">
            <a:spLocks/>
          </p:cNvSpPr>
          <p:nvPr/>
        </p:nvSpPr>
        <p:spPr>
          <a:xfrm>
            <a:off x="4535060" y="984091"/>
            <a:ext cx="3749039" cy="4018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Ciclo de desarrollo de producto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C02A798-97A0-459E-8A2B-4F35FEBE62D4}"/>
              </a:ext>
            </a:extLst>
          </p:cNvPr>
          <p:cNvSpPr txBox="1"/>
          <p:nvPr/>
        </p:nvSpPr>
        <p:spPr>
          <a:xfrm>
            <a:off x="4094480" y="2285102"/>
            <a:ext cx="442976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Áreas: diseño, manufactura y calidad.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Diseño con AMFE para garantizar fiabilidad productos.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Análisis  con herramientas CAE simulando condiciones de servicio.</a:t>
            </a:r>
          </a:p>
        </p:txBody>
      </p:sp>
    </p:spTree>
    <p:extLst>
      <p:ext uri="{BB962C8B-B14F-4D97-AF65-F5344CB8AC3E}">
        <p14:creationId xmlns:p14="http://schemas.microsoft.com/office/powerpoint/2010/main" val="733686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02C78-A2DD-FACA-5C0A-2F470A2B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2BA87FF-7A96-8375-B607-C93DAF32409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Introducción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F490054-80A4-7341-DBCC-89106F71E59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E64DC7-CD85-B879-FBD8-BDB84786E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5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7B863BC-37CC-289C-92B9-8F8457B88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934" y="1423081"/>
            <a:ext cx="2321435" cy="2297337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981E9DDB-04D1-949A-CF31-AF9C1DAA44DB}"/>
              </a:ext>
            </a:extLst>
          </p:cNvPr>
          <p:cNvSpPr txBox="1"/>
          <p:nvPr/>
        </p:nvSpPr>
        <p:spPr>
          <a:xfrm>
            <a:off x="2927932" y="1831486"/>
            <a:ext cx="3661300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Ciclos de iteración lentos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Exploración de diseño limitada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Riesgo de diseños sin optimización completa.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Costo de oportunidad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1D742E3-733C-76F9-CF7A-0C80A22B4958}"/>
              </a:ext>
            </a:extLst>
          </p:cNvPr>
          <p:cNvSpPr txBox="1">
            <a:spLocks/>
          </p:cNvSpPr>
          <p:nvPr/>
        </p:nvSpPr>
        <p:spPr>
          <a:xfrm>
            <a:off x="4003633" y="1303048"/>
            <a:ext cx="1469500" cy="4018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Impacto</a:t>
            </a:r>
          </a:p>
        </p:txBody>
      </p:sp>
      <p:pic>
        <p:nvPicPr>
          <p:cNvPr id="5" name="Google Shape;996;p40">
            <a:extLst>
              <a:ext uri="{FF2B5EF4-FFF2-40B4-BE49-F238E27FC236}">
                <a16:creationId xmlns:a16="http://schemas.microsoft.com/office/drawing/2014/main" id="{A572DF22-1EA4-5AA1-66AF-F64886D2FF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3393" y="1223089"/>
            <a:ext cx="2206675" cy="12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59;p38">
            <a:extLst>
              <a:ext uri="{FF2B5EF4-FFF2-40B4-BE49-F238E27FC236}">
                <a16:creationId xmlns:a16="http://schemas.microsoft.com/office/drawing/2014/main" id="{7A208DA6-EE57-214F-09F8-D8DE91B9A2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970" y="2402165"/>
            <a:ext cx="1474800" cy="1960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659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8CC2-F112-5C67-E9CA-E5645E96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987DE23-78DC-44B7-03F7-323E76D02569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Objetivos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2BC50B5-2476-B072-EF34-0E8E1D04B256}"/>
              </a:ext>
            </a:extLst>
          </p:cNvPr>
          <p:cNvSpPr txBox="1">
            <a:spLocks/>
          </p:cNvSpPr>
          <p:nvPr/>
        </p:nvSpPr>
        <p:spPr>
          <a:xfrm>
            <a:off x="785120" y="1187811"/>
            <a:ext cx="1579437" cy="3560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General: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9089DC0-7D9C-AB12-230A-D4412E62A4B1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074C0E2-03CE-BC1D-E4CD-B05B9653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14E7C96-69F3-221A-88D2-F69CC2D7688A}"/>
              </a:ext>
            </a:extLst>
          </p:cNvPr>
          <p:cNvSpPr txBox="1"/>
          <p:nvPr/>
        </p:nvSpPr>
        <p:spPr>
          <a:xfrm>
            <a:off x="785120" y="2954392"/>
            <a:ext cx="576808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Determinar las características de manufactura y diseño principales para el modelo de inteligencia artificial  de resortes helicoidales en IMAL.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Ejecutar una metodología de machine </a:t>
            </a:r>
            <a:r>
              <a:rPr lang="es-CO" dirty="0" err="1"/>
              <a:t>learning</a:t>
            </a:r>
            <a:r>
              <a:rPr lang="es-CO" dirty="0"/>
              <a:t> en la diferentes fases del desarrollo.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46970FD5-01FD-2C29-0B82-EA80A9B992AE}"/>
              </a:ext>
            </a:extLst>
          </p:cNvPr>
          <p:cNvSpPr txBox="1">
            <a:spLocks/>
          </p:cNvSpPr>
          <p:nvPr/>
        </p:nvSpPr>
        <p:spPr>
          <a:xfrm>
            <a:off x="785119" y="2521343"/>
            <a:ext cx="1579437" cy="42244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Específicos: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CAE33E3-5E3B-FBEA-6AAC-34E25B5957A9}"/>
              </a:ext>
            </a:extLst>
          </p:cNvPr>
          <p:cNvSpPr txBox="1"/>
          <p:nvPr/>
        </p:nvSpPr>
        <p:spPr>
          <a:xfrm>
            <a:off x="785120" y="1529604"/>
            <a:ext cx="5768080" cy="102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Desarrollar  el modelo predictivo de inteligencia artificial para  el desarrollo de producto de resortes helicoidales con las restricciones de manufactura de IMAL</a:t>
            </a:r>
          </a:p>
        </p:txBody>
      </p:sp>
    </p:spTree>
    <p:extLst>
      <p:ext uri="{BB962C8B-B14F-4D97-AF65-F5344CB8AC3E}">
        <p14:creationId xmlns:p14="http://schemas.microsoft.com/office/powerpoint/2010/main" val="2998672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5DE20-B4E2-50E9-F2B9-FB05FA63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1E6E1DD-3806-77D7-B4A0-AB98296A59A7}"/>
              </a:ext>
            </a:extLst>
          </p:cNvPr>
          <p:cNvSpPr txBox="1">
            <a:spLocks/>
          </p:cNvSpPr>
          <p:nvPr/>
        </p:nvSpPr>
        <p:spPr>
          <a:xfrm>
            <a:off x="1716968" y="412180"/>
            <a:ext cx="2479184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Resortes mecánicos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0E1C282-1ECE-EFA0-C03A-2E20DBAF1BF8}"/>
              </a:ext>
            </a:extLst>
          </p:cNvPr>
          <p:cNvSpPr txBox="1">
            <a:spLocks/>
          </p:cNvSpPr>
          <p:nvPr/>
        </p:nvSpPr>
        <p:spPr>
          <a:xfrm>
            <a:off x="5723833" y="1098366"/>
            <a:ext cx="2942791" cy="453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latin typeface="Ancizar Sans" panose="020B0602040300000003" pitchFamily="34" charset="0"/>
                <a:cs typeface="Ancizar Serif"/>
              </a:rPr>
              <a:t>Aplicación en IMAL con resortes mecánicos para la suspensión vehicular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D9B94D-BD88-AA4C-94B3-E8788433C2DB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DD7B17E-FB22-B672-BE57-EDA65F7E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7</a:t>
            </a:fld>
            <a:endParaRPr lang="es-ES"/>
          </a:p>
        </p:txBody>
      </p:sp>
      <p:pic>
        <p:nvPicPr>
          <p:cNvPr id="11" name="Imagen 10" descr="Diagrama&#10;&#10;El contenido generado por IA puede ser incorrecto.">
            <a:extLst>
              <a:ext uri="{FF2B5EF4-FFF2-40B4-BE49-F238E27FC236}">
                <a16:creationId xmlns:a16="http://schemas.microsoft.com/office/drawing/2014/main" id="{E4B3B057-AE63-9ABB-DB37-8A059D64B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920" y="1751010"/>
            <a:ext cx="1905639" cy="190563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C1E193-7CE2-353D-2157-0EBA5AF15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76" y="1112932"/>
            <a:ext cx="5201376" cy="318179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3CFDEB43-7FCD-A592-E9D5-BC6ED33618E2}"/>
              </a:ext>
            </a:extLst>
          </p:cNvPr>
          <p:cNvSpPr/>
          <p:nvPr/>
        </p:nvSpPr>
        <p:spPr>
          <a:xfrm>
            <a:off x="589280" y="2571750"/>
            <a:ext cx="1991360" cy="10848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AE21C4C-7765-1DC5-1356-847A28844470}"/>
              </a:ext>
            </a:extLst>
          </p:cNvPr>
          <p:cNvSpPr/>
          <p:nvPr/>
        </p:nvSpPr>
        <p:spPr>
          <a:xfrm>
            <a:off x="3251200" y="1676400"/>
            <a:ext cx="579120" cy="19802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673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A6F66-E8EA-35D1-C522-1A4919EA9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8640F05-854D-E168-7724-0DEB79DDFDB6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Resortes mecánicos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B70FB2F-7AEF-B794-A6A3-10A466CD24DB}"/>
              </a:ext>
            </a:extLst>
          </p:cNvPr>
          <p:cNvSpPr txBox="1">
            <a:spLocks/>
          </p:cNvSpPr>
          <p:nvPr/>
        </p:nvSpPr>
        <p:spPr>
          <a:xfrm>
            <a:off x="477376" y="880652"/>
            <a:ext cx="3277058" cy="2219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Caracterización geométrica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4C5DC3D-4C33-C2E0-721D-276DC5A57B08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9A8E7C5-1D52-FE62-E794-252E9E7B5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8</a:t>
            </a:fld>
            <a:endParaRPr lang="es-ES"/>
          </a:p>
        </p:txBody>
      </p:sp>
      <p:pic>
        <p:nvPicPr>
          <p:cNvPr id="6" name="Imagen 5" descr="Diagrama, Dibujo de ingeniería&#10;&#10;El contenido generado por IA puede ser incorrecto.">
            <a:extLst>
              <a:ext uri="{FF2B5EF4-FFF2-40B4-BE49-F238E27FC236}">
                <a16:creationId xmlns:a16="http://schemas.microsoft.com/office/drawing/2014/main" id="{71D57A35-0942-B16C-AF01-8CD45F668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441" y="1316935"/>
            <a:ext cx="1257079" cy="3165692"/>
          </a:xfrm>
          <a:prstGeom prst="rect">
            <a:avLst/>
          </a:prstGeom>
        </p:spPr>
      </p:pic>
      <p:pic>
        <p:nvPicPr>
          <p:cNvPr id="14" name="Imagen 13" descr="Imagen que contiene abrelatas, luz&#10;&#10;El contenido generado por IA puede ser incorrecto.">
            <a:extLst>
              <a:ext uri="{FF2B5EF4-FFF2-40B4-BE49-F238E27FC236}">
                <a16:creationId xmlns:a16="http://schemas.microsoft.com/office/drawing/2014/main" id="{0B50B40B-83D5-BE9D-4AAD-63412B548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751" y="1300334"/>
            <a:ext cx="3277058" cy="1047896"/>
          </a:xfrm>
          <a:prstGeom prst="rect">
            <a:avLst/>
          </a:prstGeom>
        </p:spPr>
      </p:pic>
      <p:pic>
        <p:nvPicPr>
          <p:cNvPr id="16" name="Imagen 15" descr="Imagen que contiene objeto, antena&#10;&#10;El contenido generado por IA puede ser incorrecto.">
            <a:extLst>
              <a:ext uri="{FF2B5EF4-FFF2-40B4-BE49-F238E27FC236}">
                <a16:creationId xmlns:a16="http://schemas.microsoft.com/office/drawing/2014/main" id="{707564D3-81DB-0B2A-B7AA-CF252FC7C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880" y="1362255"/>
            <a:ext cx="2048161" cy="924054"/>
          </a:xfrm>
          <a:prstGeom prst="rect">
            <a:avLst/>
          </a:prstGeom>
        </p:spPr>
      </p:pic>
      <p:pic>
        <p:nvPicPr>
          <p:cNvPr id="2" name="Imagen 1" descr="Gráfico&#10;&#10;El contenido generado por IA puede ser incorrecto.">
            <a:extLst>
              <a:ext uri="{FF2B5EF4-FFF2-40B4-BE49-F238E27FC236}">
                <a16:creationId xmlns:a16="http://schemas.microsoft.com/office/drawing/2014/main" id="{EAE7EB89-9285-36E3-86BD-AAD55311D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7260" y="2412713"/>
            <a:ext cx="3512820" cy="21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956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AFA2-6D60-F0F9-6450-C7D8BA4A7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2170B1C-F115-1C3B-A61D-1242D9B0305C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Resortes mecánicos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A403366-3326-81D0-FE3D-1D98C40D49EF}"/>
              </a:ext>
            </a:extLst>
          </p:cNvPr>
          <p:cNvSpPr txBox="1">
            <a:spLocks/>
          </p:cNvSpPr>
          <p:nvPr/>
        </p:nvSpPr>
        <p:spPr>
          <a:xfrm>
            <a:off x="477376" y="920895"/>
            <a:ext cx="5069984" cy="958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Caracterización analítica del diseño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6CC82AB-08D4-DB0C-DF40-1AF959AC966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2BF3C09-FCF2-B279-2DA9-1D6CB9A1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9</a:t>
            </a:fld>
            <a:endParaRPr lang="es-ES"/>
          </a:p>
        </p:txBody>
      </p:sp>
      <p:pic>
        <p:nvPicPr>
          <p:cNvPr id="12" name="Imagen 11" descr="Imagen que contiene reloj&#10;&#10;El contenido generado por IA puede ser incorrecto.">
            <a:extLst>
              <a:ext uri="{FF2B5EF4-FFF2-40B4-BE49-F238E27FC236}">
                <a16:creationId xmlns:a16="http://schemas.microsoft.com/office/drawing/2014/main" id="{56894FCE-AF57-47DA-ECF2-3CFD693F6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281" y="1589485"/>
            <a:ext cx="3495879" cy="1383049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56DFE72A-E7BA-63FD-EB0A-DB4DE3E7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145" y="1430577"/>
            <a:ext cx="3698239" cy="1541957"/>
          </a:xfrm>
          <a:prstGeom prst="rect">
            <a:avLst/>
          </a:prstGeom>
        </p:spPr>
      </p:pic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A53F1CA9-5CB1-03E2-AFD3-0DE0BBB9C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59" y="1507610"/>
            <a:ext cx="1300637" cy="2641708"/>
          </a:xfrm>
          <a:prstGeom prst="rect">
            <a:avLst/>
          </a:prstGeom>
        </p:spPr>
      </p:pic>
      <p:pic>
        <p:nvPicPr>
          <p:cNvPr id="14" name="Imagen 13" descr="Diagrama&#10;&#10;El contenido generado por IA puede ser incorrecto.">
            <a:extLst>
              <a:ext uri="{FF2B5EF4-FFF2-40B4-BE49-F238E27FC236}">
                <a16:creationId xmlns:a16="http://schemas.microsoft.com/office/drawing/2014/main" id="{9249D899-CBFD-D58A-BD68-C6CB82C3E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5068" y="3024433"/>
            <a:ext cx="1131796" cy="1541958"/>
          </a:xfrm>
          <a:prstGeom prst="rect">
            <a:avLst/>
          </a:prstGeom>
        </p:spPr>
      </p:pic>
      <p:pic>
        <p:nvPicPr>
          <p:cNvPr id="16" name="Imagen 15" descr="Imagen que contiene reloj, competencia de atletismo, hombre, tablero&#10;&#10;El contenido generado por IA puede ser incorrecto.">
            <a:extLst>
              <a:ext uri="{FF2B5EF4-FFF2-40B4-BE49-F238E27FC236}">
                <a16:creationId xmlns:a16="http://schemas.microsoft.com/office/drawing/2014/main" id="{833B1E5F-BADF-E7C5-911A-17A24A2F294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5426"/>
          <a:stretch>
            <a:fillRect/>
          </a:stretch>
        </p:blipFill>
        <p:spPr>
          <a:xfrm>
            <a:off x="3782281" y="3205030"/>
            <a:ext cx="1295343" cy="109682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29894C6-1F9E-2FF1-C5D7-B5B702C2F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2568" y="3548529"/>
            <a:ext cx="1189317" cy="6007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4796056-175B-F405-264A-2EB80F8F99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2115" y="3411083"/>
            <a:ext cx="1399540" cy="68472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1A94636-6555-0B39-DF77-7847362967DC}"/>
              </a:ext>
            </a:extLst>
          </p:cNvPr>
          <p:cNvSpPr txBox="1"/>
          <p:nvPr/>
        </p:nvSpPr>
        <p:spPr>
          <a:xfrm>
            <a:off x="2905294" y="1125518"/>
            <a:ext cx="997374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Esfuerzos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24077F5-4BED-3C09-F75E-C9507F922E7A}"/>
              </a:ext>
            </a:extLst>
          </p:cNvPr>
          <p:cNvSpPr txBox="1"/>
          <p:nvPr/>
        </p:nvSpPr>
        <p:spPr>
          <a:xfrm>
            <a:off x="6595198" y="1087445"/>
            <a:ext cx="997374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Rigidez</a:t>
            </a:r>
          </a:p>
        </p:txBody>
      </p:sp>
    </p:spTree>
    <p:extLst>
      <p:ext uri="{BB962C8B-B14F-4D97-AF65-F5344CB8AC3E}">
        <p14:creationId xmlns:p14="http://schemas.microsoft.com/office/powerpoint/2010/main" val="471095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F4F1-B93D-C9BE-2404-4AAF2571E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72EC791-95B5-310B-F3A1-9CA0DE564682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Desarrollo de producto de resortes helicoidales en 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EF88398D-E120-7175-6EF8-93A6CFB4F130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Manufactura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225814-22F8-C99B-51C6-BD35114F6C74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7B57AA8-606B-1F21-9029-D829AF0C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10</a:t>
            </a:fld>
            <a:endParaRPr lang="es-ES"/>
          </a:p>
        </p:txBody>
      </p:sp>
      <p:pic>
        <p:nvPicPr>
          <p:cNvPr id="7" name="Imagen 6" descr="Interfaz de usuario gráfica, Sitio web, Escala de tiempo&#10;&#10;El contenido generado por IA puede ser incorrecto.">
            <a:extLst>
              <a:ext uri="{FF2B5EF4-FFF2-40B4-BE49-F238E27FC236}">
                <a16:creationId xmlns:a16="http://schemas.microsoft.com/office/drawing/2014/main" id="{26FC4F3B-3B39-1C70-4DCE-2954EDCD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02"/>
          <a:stretch>
            <a:fillRect/>
          </a:stretch>
        </p:blipFill>
        <p:spPr>
          <a:xfrm>
            <a:off x="127923" y="1256335"/>
            <a:ext cx="6278319" cy="3310532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530F5D6-4114-2074-1E52-7A9617A644F2}"/>
              </a:ext>
            </a:extLst>
          </p:cNvPr>
          <p:cNvSpPr txBox="1"/>
          <p:nvPr/>
        </p:nvSpPr>
        <p:spPr>
          <a:xfrm>
            <a:off x="6406242" y="1825581"/>
            <a:ext cx="2510443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Restricciones: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Tx/>
              <a:buChar char="-"/>
            </a:pPr>
            <a:r>
              <a:rPr lang="es-ES" dirty="0"/>
              <a:t>Diámetro del alambre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Tx/>
              <a:buChar char="-"/>
            </a:pPr>
            <a:r>
              <a:rPr lang="es-ES" dirty="0"/>
              <a:t>Paso</a:t>
            </a:r>
          </a:p>
          <a:p>
            <a:pPr marL="285750" indent="-285750">
              <a:lnSpc>
                <a:spcPct val="150000"/>
              </a:lnSpc>
              <a:buClr>
                <a:schemeClr val="accent4"/>
              </a:buClr>
              <a:buFontTx/>
              <a:buChar char="-"/>
            </a:pPr>
            <a:r>
              <a:rPr lang="es-ES" dirty="0"/>
              <a:t>Altura de </a:t>
            </a:r>
            <a:r>
              <a:rPr lang="es-ES" dirty="0" err="1"/>
              <a:t>preset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4821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0A0D9-A0A2-BBCD-A27D-7E0C1A03A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0268D59-84FB-26A4-4425-5D66E5987FA8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Desarrollo de producto de resortes helicoidales en 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25300F5-CAED-B92A-E33E-94B7285AC0BF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4033388" cy="2809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Especificaciones técnicas con OEM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212E877-48EF-0C3B-03CA-E707C65C4D56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A8510F-81AD-E720-F56D-12D4D79C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11</a:t>
            </a:fld>
            <a:endParaRPr lang="es-ES"/>
          </a:p>
        </p:txBody>
      </p:sp>
      <p:pic>
        <p:nvPicPr>
          <p:cNvPr id="6" name="Imagen 5" descr="Imagen que contiene viejo, calle, sucio, parado&#10;&#10;El contenido generado por IA puede ser incorrecto.">
            <a:extLst>
              <a:ext uri="{FF2B5EF4-FFF2-40B4-BE49-F238E27FC236}">
                <a16:creationId xmlns:a16="http://schemas.microsoft.com/office/drawing/2014/main" id="{509E35DF-2869-9CC2-0A3F-3C608ED39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82" y="1597611"/>
            <a:ext cx="732018" cy="2344015"/>
          </a:xfrm>
          <a:prstGeom prst="rect">
            <a:avLst/>
          </a:prstGeom>
        </p:spPr>
      </p:pic>
      <p:pic>
        <p:nvPicPr>
          <p:cNvPr id="8" name="Imagen 7" descr="Imagen que contiene estructuras metálicas, avión, hombre, aire&#10;&#10;El contenido generado por IA puede ser incorrecto.">
            <a:extLst>
              <a:ext uri="{FF2B5EF4-FFF2-40B4-BE49-F238E27FC236}">
                <a16:creationId xmlns:a16="http://schemas.microsoft.com/office/drawing/2014/main" id="{F75D2495-DDFA-6A0E-5B1B-1C5C39CFB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170" y="1597610"/>
            <a:ext cx="848393" cy="2344015"/>
          </a:xfrm>
          <a:prstGeom prst="rect">
            <a:avLst/>
          </a:prstGeom>
        </p:spPr>
      </p:pic>
      <p:pic>
        <p:nvPicPr>
          <p:cNvPr id="12" name="Imagen 11" descr="Imagen que contiene interior, cepillo de dientes, taza, cepillo&#10;&#10;El contenido generado por IA puede ser incorrecto.">
            <a:extLst>
              <a:ext uri="{FF2B5EF4-FFF2-40B4-BE49-F238E27FC236}">
                <a16:creationId xmlns:a16="http://schemas.microsoft.com/office/drawing/2014/main" id="{9F2CF4F2-7F72-DE8B-2AB4-61F2780FF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200" y="1597609"/>
            <a:ext cx="799781" cy="2344015"/>
          </a:xfrm>
          <a:prstGeom prst="rect">
            <a:avLst/>
          </a:prstGeom>
        </p:spPr>
      </p:pic>
      <p:pic>
        <p:nvPicPr>
          <p:cNvPr id="14" name="Imagen 13" descr="Imagen que contiene tabla, pastel, pequeño, sostener&#10;&#10;El contenido generado por IA puede ser incorrecto.">
            <a:extLst>
              <a:ext uri="{FF2B5EF4-FFF2-40B4-BE49-F238E27FC236}">
                <a16:creationId xmlns:a16="http://schemas.microsoft.com/office/drawing/2014/main" id="{E826EB8A-CF5B-92E7-81C2-3DB237563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892" y="1597608"/>
            <a:ext cx="989482" cy="2344015"/>
          </a:xfrm>
          <a:prstGeom prst="rect">
            <a:avLst/>
          </a:prstGeom>
        </p:spPr>
      </p:pic>
      <p:pic>
        <p:nvPicPr>
          <p:cNvPr id="16" name="Imagen 15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2EA681B-A251-95FE-5D08-2E1E2876F8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671" y="1887495"/>
            <a:ext cx="2506523" cy="1764248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E602855-B1C0-096D-95BA-2D7999B1100F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1443500" y="2769618"/>
            <a:ext cx="45967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12D6C1A-EB3E-353C-2D7D-6EBEE876BDA0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2751563" y="2769617"/>
            <a:ext cx="55363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21BB133-84B3-2DEC-87A0-F34FF8453982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4104981" y="2769616"/>
            <a:ext cx="67891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DA90579-0DF5-F550-D1D3-C740FE88DF59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5773374" y="2769616"/>
            <a:ext cx="581297" cy="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DB7B471-AC04-70A6-D6F5-B73457BF52B8}"/>
              </a:ext>
            </a:extLst>
          </p:cNvPr>
          <p:cNvSpPr txBox="1"/>
          <p:nvPr/>
        </p:nvSpPr>
        <p:spPr>
          <a:xfrm>
            <a:off x="6551292" y="4139851"/>
            <a:ext cx="2113280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Constante de elasticidad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AE533AB-B09E-E8E0-C39F-63F6829A84BC}"/>
              </a:ext>
            </a:extLst>
          </p:cNvPr>
          <p:cNvSpPr txBox="1"/>
          <p:nvPr/>
        </p:nvSpPr>
        <p:spPr>
          <a:xfrm>
            <a:off x="1801203" y="4140061"/>
            <a:ext cx="1052325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Geometría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701D67F-5145-C1EC-865B-6D82306080EA}"/>
              </a:ext>
            </a:extLst>
          </p:cNvPr>
          <p:cNvSpPr txBox="1"/>
          <p:nvPr/>
        </p:nvSpPr>
        <p:spPr>
          <a:xfrm>
            <a:off x="4909161" y="4140061"/>
            <a:ext cx="1052325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Cargas</a:t>
            </a: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C59D6853-F6F6-CFE2-892A-9AFA0BA72AA0}"/>
              </a:ext>
            </a:extLst>
          </p:cNvPr>
          <p:cNvCxnSpPr>
            <a:stCxn id="6" idx="2"/>
            <a:endCxn id="12" idx="2"/>
          </p:cNvCxnSpPr>
          <p:nvPr/>
        </p:nvCxnSpPr>
        <p:spPr>
          <a:xfrm rot="5400000" flipH="1" flipV="1">
            <a:off x="2391290" y="2627825"/>
            <a:ext cx="2" cy="2627600"/>
          </a:xfrm>
          <a:prstGeom prst="bentConnector3">
            <a:avLst>
              <a:gd name="adj1" fmla="val -1143000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003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9FD7D-DCC3-A641-33B5-4493C2D09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B5712A2-2AF2-C7C5-EA07-BE131E4FC601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Desarrollo de producto de resortes helicoidales en 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C40DD11C-F912-9B85-7D9F-545DB8A11C8F}"/>
              </a:ext>
            </a:extLst>
          </p:cNvPr>
          <p:cNvSpPr txBox="1">
            <a:spLocks/>
          </p:cNvSpPr>
          <p:nvPr/>
        </p:nvSpPr>
        <p:spPr>
          <a:xfrm>
            <a:off x="477376" y="920893"/>
            <a:ext cx="3749371" cy="207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Restricciones de manufactura y criterios de falla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F1D7E2-7461-02F3-4C92-961F58D706C5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0E3A5B8-716E-2361-A754-066DD291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12</a:t>
            </a:fld>
            <a:endParaRPr lang="es-ES"/>
          </a:p>
        </p:txBody>
      </p:sp>
      <p:pic>
        <p:nvPicPr>
          <p:cNvPr id="7" name="Imagen 6" descr="Icono&#10;&#10;El contenido generado por IA puede ser incorrecto.">
            <a:extLst>
              <a:ext uri="{FF2B5EF4-FFF2-40B4-BE49-F238E27FC236}">
                <a16:creationId xmlns:a16="http://schemas.microsoft.com/office/drawing/2014/main" id="{2D33E482-E0CA-EE18-CAC5-E576CA118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012" y="1295706"/>
            <a:ext cx="1230647" cy="2755863"/>
          </a:xfrm>
          <a:prstGeom prst="rect">
            <a:avLst/>
          </a:prstGeom>
        </p:spPr>
      </p:pic>
      <p:pic>
        <p:nvPicPr>
          <p:cNvPr id="11" name="Imagen 10" descr="Imagen que contiene interior, tabla, computadora, escritorio&#10;&#10;El contenido generado por IA puede ser incorrecto.">
            <a:extLst>
              <a:ext uri="{FF2B5EF4-FFF2-40B4-BE49-F238E27FC236}">
                <a16:creationId xmlns:a16="http://schemas.microsoft.com/office/drawing/2014/main" id="{629300E6-2E16-08A0-4D42-89954485D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6096" y="1462550"/>
            <a:ext cx="1390651" cy="2447326"/>
          </a:xfrm>
          <a:prstGeom prst="rect">
            <a:avLst/>
          </a:prstGeom>
        </p:spPr>
      </p:pic>
      <p:pic>
        <p:nvPicPr>
          <p:cNvPr id="17" name="Imagen 1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E21A677B-E3E5-6262-E6F8-C312D20D9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870" y="757421"/>
            <a:ext cx="2657623" cy="1852466"/>
          </a:xfrm>
          <a:prstGeom prst="rect">
            <a:avLst/>
          </a:prstGeom>
        </p:spPr>
      </p:pic>
      <p:pic>
        <p:nvPicPr>
          <p:cNvPr id="19" name="Imagen 1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1EB0C56F-CD8C-CA1C-FE47-B137F81008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870" y="2673637"/>
            <a:ext cx="2657623" cy="174828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B87A926-623A-E0BF-67D3-9FA0BA2BA919}"/>
              </a:ext>
            </a:extLst>
          </p:cNvPr>
          <p:cNvSpPr txBox="1"/>
          <p:nvPr/>
        </p:nvSpPr>
        <p:spPr>
          <a:xfrm>
            <a:off x="477376" y="4003987"/>
            <a:ext cx="2082944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ES" dirty="0"/>
              <a:t>Geometría parametrizada</a:t>
            </a:r>
            <a:endParaRPr 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9009D75-2BA2-DCD1-C96C-C5DB6E277ABB}"/>
              </a:ext>
            </a:extLst>
          </p:cNvPr>
          <p:cNvSpPr txBox="1"/>
          <p:nvPr/>
        </p:nvSpPr>
        <p:spPr>
          <a:xfrm>
            <a:off x="2610596" y="4003987"/>
            <a:ext cx="2082944" cy="38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0" indent="0">
              <a:lnSpc>
                <a:spcPct val="150000"/>
              </a:lnSpc>
              <a:buClr>
                <a:schemeClr val="accent4"/>
              </a:buClr>
              <a:buNone/>
            </a:pPr>
            <a:r>
              <a:rPr lang="es-CO" dirty="0"/>
              <a:t>Caracterización de diseño</a:t>
            </a:r>
          </a:p>
        </p:txBody>
      </p:sp>
    </p:spTree>
    <p:extLst>
      <p:ext uri="{BB962C8B-B14F-4D97-AF65-F5344CB8AC3E}">
        <p14:creationId xmlns:p14="http://schemas.microsoft.com/office/powerpoint/2010/main" val="1616145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22A84-8412-416A-7CFA-49D47B7CB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4DD3553-D515-1AE2-BE04-433D8E23C86B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Desarrollo de producto de resortes helicoidales en IMAL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D6D2C45-2B02-30F0-CE4A-7C125676C5BD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Optimización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AFE460-4EDE-45F4-3044-3A7846A7A407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FFA1126-5758-1465-7AC6-A31300EB5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EC42ED7-F0EE-5C7A-EA09-AADEFC096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32" y="1500108"/>
            <a:ext cx="4551030" cy="224893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81A1109C-5A42-4502-6C5B-637CC4DEACEE}"/>
              </a:ext>
            </a:extLst>
          </p:cNvPr>
          <p:cNvSpPr txBox="1"/>
          <p:nvPr/>
        </p:nvSpPr>
        <p:spPr>
          <a:xfrm>
            <a:off x="5161280" y="1814902"/>
            <a:ext cx="3627120" cy="1351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Técnica de solución determinística o heurística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Estrategia de solución entre el tiempo y la precisión</a:t>
            </a:r>
          </a:p>
        </p:txBody>
      </p:sp>
    </p:spTree>
    <p:extLst>
      <p:ext uri="{BB962C8B-B14F-4D97-AF65-F5344CB8AC3E}">
        <p14:creationId xmlns:p14="http://schemas.microsoft.com/office/powerpoint/2010/main" val="882906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F835F-9AD3-0FEC-B918-EFFD217D5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9FD2D58E-DE46-BCA0-04FD-592A44D5C3B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Desarrollo de producto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40D0987-9141-5FD3-0BF0-B0388CDC5AC4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4694064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Estrategia de diseño con IA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3110127-D2AB-2E09-F65F-F746BB677785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7D7DD533-F996-E3B3-4896-902EB07B2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960BD27-FC95-0FB7-4949-3FC7E8238D36}"/>
              </a:ext>
            </a:extLst>
          </p:cNvPr>
          <p:cNvSpPr txBox="1"/>
          <p:nvPr/>
        </p:nvSpPr>
        <p:spPr>
          <a:xfrm>
            <a:off x="166023" y="2932545"/>
            <a:ext cx="8666624" cy="167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Es la representación del conocimiento en el lenguaje computacional por medio de diferentes técnicas a partir de datos.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En general el desarrollo se da en 3 fases de desarrollo: Diagnostico, planificación y control.</a:t>
            </a:r>
          </a:p>
          <a:p>
            <a:pPr>
              <a:lnSpc>
                <a:spcPct val="150000"/>
              </a:lnSpc>
              <a:buClr>
                <a:schemeClr val="accent4"/>
              </a:buClr>
            </a:pPr>
            <a:r>
              <a:rPr lang="es-ES" dirty="0"/>
              <a:t>Se utiliza para solucionar diferentes tipos de problemas como el modelo sustituto para determinar el estado de esfuerzos y deformación.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77B5C2A-658D-6F92-2AC6-911E3BC2A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72" y="1102612"/>
            <a:ext cx="5733327" cy="18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87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AAC3D-99EE-AA3D-C180-EC19D113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A6E0775-5622-F3F1-E024-49F3D1966FF0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5F663D-A05F-F356-2B2E-A431049FD700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440EC8B-2066-52CD-C108-1CB8EF00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15</a:t>
            </a:fld>
            <a:endParaRPr lang="es-ES"/>
          </a:p>
        </p:txBody>
      </p:sp>
      <p:pic>
        <p:nvPicPr>
          <p:cNvPr id="14" name="Imagen 13" descr="Imagen que contiene 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8A620355-88E7-381D-0F17-22E1E9E5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0382" y="484920"/>
            <a:ext cx="2228017" cy="2014372"/>
          </a:xfrm>
          <a:prstGeom prst="rect">
            <a:avLst/>
          </a:prstGeom>
        </p:spPr>
      </p:pic>
      <p:pic>
        <p:nvPicPr>
          <p:cNvPr id="1026" name="Picture 2" descr="AI vs Machine Learning vs Deep Learning Venn diagram">
            <a:extLst>
              <a:ext uri="{FF2B5EF4-FFF2-40B4-BE49-F238E27FC236}">
                <a16:creationId xmlns:a16="http://schemas.microsoft.com/office/drawing/2014/main" id="{B860DD48-FCB9-B8EB-C656-91A3816E0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56" y="781283"/>
            <a:ext cx="4475062" cy="358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chine learning regression model diagram">
            <a:extLst>
              <a:ext uri="{FF2B5EF4-FFF2-40B4-BE49-F238E27FC236}">
                <a16:creationId xmlns:a16="http://schemas.microsoft.com/office/drawing/2014/main" id="{B5BB7338-5959-341A-827B-74E8F0030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381" y="2428172"/>
            <a:ext cx="2228017" cy="210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263E9783-C59E-2A07-2DF2-DA68977715E8}"/>
              </a:ext>
            </a:extLst>
          </p:cNvPr>
          <p:cNvSpPr/>
          <p:nvPr/>
        </p:nvSpPr>
        <p:spPr>
          <a:xfrm>
            <a:off x="5290381" y="484920"/>
            <a:ext cx="1039299" cy="10289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D91C4CC-2110-98B9-6DBC-81E29D454FD7}"/>
              </a:ext>
            </a:extLst>
          </p:cNvPr>
          <p:cNvSpPr/>
          <p:nvPr/>
        </p:nvSpPr>
        <p:spPr>
          <a:xfrm>
            <a:off x="6400800" y="2681811"/>
            <a:ext cx="934720" cy="8335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8555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8D763-6B53-C14B-27D7-F13A0F2A3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1EAC139-3F50-0A13-4DAF-5669E567B65E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64A3D7D-B538-6F4D-154A-4D3A5B70D861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Flujo de desarrollo c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B79EB65-F393-3CC1-CFA9-45FB83721B4A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B8F36A5-2B9A-A926-E4ED-0A22473D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16</a:t>
            </a:fld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7CCDD03-FAF3-A3C3-5D42-84233A862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063" y="1292355"/>
            <a:ext cx="7064742" cy="3190272"/>
          </a:xfrm>
          <a:prstGeom prst="rect">
            <a:avLst/>
          </a:prstGeom>
        </p:spPr>
      </p:pic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76F9C4C-C750-8E14-9210-AEF3C65C0B90}"/>
              </a:ext>
            </a:extLst>
          </p:cNvPr>
          <p:cNvSpPr/>
          <p:nvPr/>
        </p:nvSpPr>
        <p:spPr>
          <a:xfrm>
            <a:off x="301256" y="2272318"/>
            <a:ext cx="1121144" cy="80264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000" dirty="0">
                <a:solidFill>
                  <a:schemeClr val="tx1"/>
                </a:solidFill>
              </a:rPr>
              <a:t>Formulación del problema computacional</a:t>
            </a:r>
            <a:endParaRPr lang="es-CO" sz="1000" dirty="0">
              <a:solidFill>
                <a:schemeClr val="tx1"/>
              </a:solidFill>
            </a:endParaRP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6F29E0A-A46A-5AC5-BFBA-54F0114C6E9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1422400" y="2673638"/>
            <a:ext cx="660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ítulo 1">
            <a:extLst>
              <a:ext uri="{FF2B5EF4-FFF2-40B4-BE49-F238E27FC236}">
                <a16:creationId xmlns:a16="http://schemas.microsoft.com/office/drawing/2014/main" id="{B1ACAC5E-B06F-ACCC-DE20-177067EC4B81}"/>
              </a:ext>
            </a:extLst>
          </p:cNvPr>
          <p:cNvSpPr txBox="1">
            <a:spLocks/>
          </p:cNvSpPr>
          <p:nvPr/>
        </p:nvSpPr>
        <p:spPr>
          <a:xfrm>
            <a:off x="477376" y="3752672"/>
            <a:ext cx="3462756" cy="4535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latin typeface="Ancizar Sans" panose="020B0602040300000003" pitchFamily="34" charset="0"/>
                <a:cs typeface="Ancizar Serif"/>
              </a:rPr>
              <a:t>Herramienta de desarrollo con </a:t>
            </a:r>
            <a:r>
              <a:rPr lang="es-ES" sz="1400" spc="300" dirty="0" err="1">
                <a:latin typeface="Ancizar Sans" panose="020B0602040300000003" pitchFamily="34" charset="0"/>
                <a:cs typeface="Ancizar Serif"/>
              </a:rPr>
              <a:t>python</a:t>
            </a:r>
            <a:r>
              <a:rPr lang="es-ES" sz="1400" spc="300" dirty="0">
                <a:latin typeface="Ancizar Sans" panose="020B0602040300000003" pitchFamily="34" charset="0"/>
                <a:cs typeface="Ancizar Serif"/>
              </a:rPr>
              <a:t> y las librerías principales </a:t>
            </a:r>
            <a:r>
              <a:rPr lang="es-ES" sz="1400" spc="300" dirty="0" err="1">
                <a:latin typeface="Ancizar Sans" panose="020B0602040300000003" pitchFamily="34" charset="0"/>
                <a:cs typeface="Ancizar Serif"/>
              </a:rPr>
              <a:t>PyANSYS</a:t>
            </a:r>
            <a:r>
              <a:rPr lang="es-ES" sz="1400" spc="300" dirty="0">
                <a:latin typeface="Ancizar Sans" panose="020B0602040300000003" pitchFamily="34" charset="0"/>
                <a:cs typeface="Ancizar Serif"/>
              </a:rPr>
              <a:t> y </a:t>
            </a:r>
            <a:r>
              <a:rPr lang="es-ES" sz="1400" spc="300" dirty="0" err="1">
                <a:latin typeface="Ancizar Sans" panose="020B0602040300000003" pitchFamily="34" charset="0"/>
                <a:cs typeface="Ancizar Serif"/>
              </a:rPr>
              <a:t>Scikit-learn</a:t>
            </a:r>
            <a:r>
              <a:rPr lang="es-ES" sz="1400" spc="300" dirty="0">
                <a:latin typeface="Ancizar Sans" panose="020B0602040300000003" pitchFamily="34" charset="0"/>
                <a:cs typeface="Ancizar Serif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0600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1B449-BD2E-23E3-0FB4-B625D2690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C1F9AF-DE86-6791-9974-15D4B9E96DAC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77C2A7-5FE3-A7B5-3A58-3635B701272A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4CD8230-0248-EBCC-7C2E-ADB4DB5ED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17</a:t>
            </a:fld>
            <a:endParaRPr lang="es-ES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9BBB719-46A8-0873-C757-C4866385804C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496838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Formulación del problema computacional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CCC28B-B28E-76F6-43A6-5FAD2321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93" y="1186322"/>
            <a:ext cx="7544853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057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E87D-4E3E-C6B3-DCE2-43B6CD44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A645574-EA16-34F3-16F3-91E15B7D7F07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477168F-22FD-A63E-6725-7AAF592EEC56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856FEE2-CBE0-9C83-41CB-5C6CD404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18</a:t>
            </a:fld>
            <a:endParaRPr lang="es-ES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5339D33-F98B-809B-570C-F0210D77E4DD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417590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Formación del </a:t>
            </a:r>
            <a:r>
              <a:rPr lang="es-ES" sz="1400" spc="300" dirty="0" err="1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dataset</a:t>
            </a:r>
            <a:endParaRPr lang="es-ES" sz="1400" spc="300" dirty="0">
              <a:solidFill>
                <a:schemeClr val="accent3"/>
              </a:solidFill>
              <a:latin typeface="Ancizar Sans" panose="020B0602040300000003" pitchFamily="34" charset="0"/>
              <a:cs typeface="Ancizar Serif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DC53C5-699E-36E9-4076-E3BEAB7383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95"/>
          <a:stretch>
            <a:fillRect/>
          </a:stretch>
        </p:blipFill>
        <p:spPr>
          <a:xfrm>
            <a:off x="477376" y="1341843"/>
            <a:ext cx="6140094" cy="290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685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7E96-B8CE-C146-5DF4-BA76C331B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679D3EA-6744-5C76-7874-949BC5D41329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68BB50-BC8A-746A-8DD2-B49DA2B4426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6719FCD-809D-9DCC-EF44-B492EA14C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19</a:t>
            </a:fld>
            <a:endParaRPr lang="es-ES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FE70DD70-290F-9F84-D3F7-F13EF652381F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Entrenamiento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4B1B2B9-F460-DDCF-6419-98A3BF60D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74" y="1158856"/>
            <a:ext cx="7689746" cy="328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715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FDF3-B562-5CFF-A0AF-DB0936787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8099E97-04F8-4F23-B678-A25E4F66F362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A77E8EB-73BD-3949-B0F7-56494B443C19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7C1E388-B820-6736-9FE4-AEF3CBE4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20</a:t>
            </a:fld>
            <a:endParaRPr lang="es-ES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519D54A-4CF8-EB62-B57C-EC517BC64F6F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Entrenamiento</a:t>
            </a:r>
          </a:p>
        </p:txBody>
      </p:sp>
      <p:pic>
        <p:nvPicPr>
          <p:cNvPr id="3074" name="Picture 2" descr="random forest decision flow diagram">
            <a:extLst>
              <a:ext uri="{FF2B5EF4-FFF2-40B4-BE49-F238E27FC236}">
                <a16:creationId xmlns:a16="http://schemas.microsoft.com/office/drawing/2014/main" id="{82DB47E3-F75B-42BD-F0BA-103D448BD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076" y="1394460"/>
            <a:ext cx="5309687" cy="2828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986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B55BD-0CA1-4D09-DF9C-E9BC8271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9F2B5F5-D1A9-33D8-8B4A-6F086E8BC82E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Modelo de machine </a:t>
            </a:r>
            <a:r>
              <a:rPr lang="es-ES" sz="2200" dirty="0" err="1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learning</a:t>
            </a:r>
            <a:endParaRPr lang="es-ES" sz="2200" dirty="0">
              <a:solidFill>
                <a:schemeClr val="accent3"/>
              </a:solidFill>
              <a:latin typeface="Ancizar Serif Extrabold" panose="020A0902070300000003" pitchFamily="18" charset="0"/>
              <a:cs typeface="Ancizar Sans Extrabold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C564A1A-B329-5368-4698-CF90244F54D1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3F76F7AD-5394-C944-D217-C825E57A1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4F163FF-84BE-1A89-6192-7DCA8C349BBB}"/>
              </a:ext>
            </a:extLst>
          </p:cNvPr>
          <p:cNvSpPr txBox="1">
            <a:spLocks/>
          </p:cNvSpPr>
          <p:nvPr/>
        </p:nvSpPr>
        <p:spPr>
          <a:xfrm>
            <a:off x="477376" y="920894"/>
            <a:ext cx="2657623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Validación</a:t>
            </a:r>
          </a:p>
        </p:txBody>
      </p:sp>
    </p:spTree>
    <p:extLst>
      <p:ext uri="{BB962C8B-B14F-4D97-AF65-F5344CB8AC3E}">
        <p14:creationId xmlns:p14="http://schemas.microsoft.com/office/powerpoint/2010/main" val="35867664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5F723-4325-0D00-CE99-B703271B7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A0A903F6-4875-4317-4FEF-2AE1D956AB94}"/>
              </a:ext>
            </a:extLst>
          </p:cNvPr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Conclusiones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6B657BA-42AA-FAFE-7AE1-8D495355BBA0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CD89532-9809-0940-69A8-DBB92FD0B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1090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22D6B-2BFD-AA4E-EFBD-E576E088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1774A73-041B-19CC-D06B-90412B66B519}"/>
              </a:ext>
            </a:extLst>
          </p:cNvPr>
          <p:cNvSpPr txBox="1">
            <a:spLocks/>
          </p:cNvSpPr>
          <p:nvPr/>
        </p:nvSpPr>
        <p:spPr>
          <a:xfrm>
            <a:off x="477376" y="322682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Reflexiones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DCF24F-1AB2-0129-7CF6-2B1F4AA6A471}"/>
              </a:ext>
            </a:extLst>
          </p:cNvPr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de </a:t>
            </a:r>
            <a:r>
              <a:rPr lang="es-CO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ingeniería</a:t>
            </a:r>
            <a:endParaRPr lang="en-US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accent3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accent3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accent3"/>
              </a:solidFill>
              <a:latin typeface="Ancizar Sans" panose="020B0602040300000003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670DE5A-EB69-2ABB-3CA1-7B5A1B67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5581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77376" y="302401"/>
            <a:ext cx="6609810" cy="5622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2200" dirty="0">
                <a:solidFill>
                  <a:schemeClr val="accent3"/>
                </a:solidFill>
                <a:latin typeface="Ancizar Serif Extrabold" panose="020A0902070300000003" pitchFamily="18" charset="0"/>
                <a:cs typeface="Ancizar Sans Extrabold"/>
              </a:rPr>
              <a:t>Referencias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77376" y="783313"/>
            <a:ext cx="7877165" cy="18171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SUBTÍTULO ANCÍZAR SANS </a:t>
            </a:r>
            <a:r>
              <a:rPr lang="mr-IN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–</a:t>
            </a:r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ESPACIADO INTERLETRA SEPARADO </a:t>
            </a:r>
            <a:r>
              <a:rPr lang="mr-IN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–</a:t>
            </a:r>
            <a:r>
              <a:rPr lang="es-ES" sz="1400" spc="300" dirty="0">
                <a:solidFill>
                  <a:schemeClr val="accent3"/>
                </a:solidFill>
                <a:latin typeface="Ancizar Sans" panose="020B0602040300000003" pitchFamily="34" charset="0"/>
                <a:cs typeface="Ancizar Serif"/>
              </a:rPr>
              <a:t> 14pt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259080" y="4720590"/>
            <a:ext cx="311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Facultad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de ingeniería</a:t>
            </a:r>
            <a:endParaRPr lang="en-US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  <a:p>
            <a:r>
              <a:rPr lang="en-US" sz="900" i="1" dirty="0" err="1">
                <a:solidFill>
                  <a:schemeClr val="bg2"/>
                </a:solidFill>
                <a:latin typeface="Ancizar Sans" panose="020B0602040300000003" pitchFamily="34" charset="0"/>
              </a:rPr>
              <a:t>Sede</a:t>
            </a:r>
            <a:r>
              <a:rPr lang="en-U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 </a:t>
            </a:r>
            <a:r>
              <a:rPr lang="es-ES" sz="900" i="1" dirty="0">
                <a:solidFill>
                  <a:schemeClr val="bg2"/>
                </a:solidFill>
                <a:latin typeface="Ancizar Sans" panose="020B0602040300000003" pitchFamily="34" charset="0"/>
              </a:rPr>
              <a:t>Bogotá</a:t>
            </a:r>
            <a:endParaRPr lang="es-CO" sz="900" i="1" dirty="0">
              <a:solidFill>
                <a:schemeClr val="bg2"/>
              </a:solidFill>
              <a:latin typeface="Ancizar Sans" panose="020B06020403000000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19516F2-735F-7E69-280C-802579BCBF47}"/>
              </a:ext>
            </a:extLst>
          </p:cNvPr>
          <p:cNvSpPr txBox="1"/>
          <p:nvPr/>
        </p:nvSpPr>
        <p:spPr>
          <a:xfrm>
            <a:off x="561600" y="1303200"/>
            <a:ext cx="8071200" cy="1998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marL="285750" indent="-285750">
              <a:buFont typeface="Wingdings" panose="05000000000000000000" pitchFamily="2" charset="2"/>
              <a:buChar char="§"/>
              <a:defRPr sz="1400">
                <a:latin typeface="Ancizar Sans Light" panose="020B0502040300000003" pitchFamily="34" charset="0"/>
                <a:cs typeface="Ancizar Serif"/>
              </a:defRPr>
            </a:lvl1pPr>
          </a:lstStyle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 err="1"/>
              <a:t>Lorem</a:t>
            </a:r>
            <a:r>
              <a:rPr lang="es-CO" dirty="0"/>
              <a:t> </a:t>
            </a:r>
            <a:r>
              <a:rPr lang="es-CO" dirty="0" err="1"/>
              <a:t>ipsum</a:t>
            </a:r>
            <a:r>
              <a:rPr lang="es-CO" dirty="0"/>
              <a:t> dolor </a:t>
            </a:r>
            <a:r>
              <a:rPr lang="es-CO" dirty="0" err="1"/>
              <a:t>sit</a:t>
            </a:r>
            <a:r>
              <a:rPr lang="es-CO" dirty="0"/>
              <a:t> </a:t>
            </a:r>
            <a:r>
              <a:rPr lang="es-CO" dirty="0" err="1"/>
              <a:t>amet</a:t>
            </a:r>
            <a:r>
              <a:rPr lang="es-CO" dirty="0"/>
              <a:t>, </a:t>
            </a:r>
            <a:r>
              <a:rPr lang="es-CO" dirty="0" err="1"/>
              <a:t>consectetur</a:t>
            </a:r>
            <a:r>
              <a:rPr lang="es-CO" dirty="0"/>
              <a:t> </a:t>
            </a:r>
            <a:r>
              <a:rPr lang="es-CO" dirty="0" err="1"/>
              <a:t>adipiscing</a:t>
            </a:r>
            <a:r>
              <a:rPr lang="es-CO" dirty="0"/>
              <a:t> </a:t>
            </a:r>
            <a:r>
              <a:rPr lang="es-CO" dirty="0" err="1"/>
              <a:t>elit</a:t>
            </a:r>
            <a:r>
              <a:rPr lang="es-CO" dirty="0"/>
              <a:t>, sed do </a:t>
            </a:r>
            <a:r>
              <a:rPr lang="es-CO" dirty="0" err="1"/>
              <a:t>eiusmod</a:t>
            </a:r>
            <a:r>
              <a:rPr lang="es-CO" dirty="0"/>
              <a:t> </a:t>
            </a:r>
            <a:r>
              <a:rPr lang="es-CO" dirty="0" err="1"/>
              <a:t>tempor</a:t>
            </a:r>
            <a:r>
              <a:rPr lang="es-CO" dirty="0"/>
              <a:t> </a:t>
            </a:r>
            <a:r>
              <a:rPr lang="es-CO" dirty="0" err="1"/>
              <a:t>incididunt</a:t>
            </a:r>
            <a:r>
              <a:rPr lang="es-CO" dirty="0"/>
              <a:t> ut labore et </a:t>
            </a:r>
            <a:r>
              <a:rPr lang="es-CO" dirty="0" err="1"/>
              <a:t>dolore</a:t>
            </a:r>
            <a:r>
              <a:rPr lang="es-CO" dirty="0"/>
              <a:t> magna </a:t>
            </a:r>
            <a:r>
              <a:rPr lang="es-CO" dirty="0" err="1"/>
              <a:t>aliqua</a:t>
            </a:r>
            <a:r>
              <a:rPr lang="es-CO" dirty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/>
              <a:t>Ut </a:t>
            </a:r>
            <a:r>
              <a:rPr lang="es-CO" dirty="0" err="1"/>
              <a:t>enim</a:t>
            </a:r>
            <a:r>
              <a:rPr lang="es-CO" dirty="0"/>
              <a:t> ad </a:t>
            </a:r>
            <a:r>
              <a:rPr lang="es-CO" dirty="0" err="1"/>
              <a:t>minim</a:t>
            </a:r>
            <a:r>
              <a:rPr lang="es-CO" dirty="0"/>
              <a:t> </a:t>
            </a:r>
            <a:r>
              <a:rPr lang="es-CO" dirty="0" err="1"/>
              <a:t>veniam</a:t>
            </a:r>
            <a:r>
              <a:rPr lang="es-CO" dirty="0"/>
              <a:t>, quis </a:t>
            </a:r>
            <a:r>
              <a:rPr lang="es-CO" dirty="0" err="1"/>
              <a:t>nostrud</a:t>
            </a:r>
            <a:r>
              <a:rPr lang="es-CO" dirty="0"/>
              <a:t> </a:t>
            </a:r>
            <a:r>
              <a:rPr lang="es-CO" dirty="0" err="1"/>
              <a:t>exercitation</a:t>
            </a:r>
            <a:r>
              <a:rPr lang="es-CO" dirty="0"/>
              <a:t> </a:t>
            </a:r>
            <a:r>
              <a:rPr lang="es-CO" dirty="0" err="1"/>
              <a:t>ullamco</a:t>
            </a:r>
            <a:r>
              <a:rPr lang="es-CO" dirty="0"/>
              <a:t> </a:t>
            </a:r>
            <a:r>
              <a:rPr lang="es-CO" dirty="0" err="1"/>
              <a:t>laboris</a:t>
            </a:r>
            <a:r>
              <a:rPr lang="es-CO" dirty="0"/>
              <a:t> </a:t>
            </a:r>
            <a:r>
              <a:rPr lang="es-CO" dirty="0" err="1"/>
              <a:t>nisi</a:t>
            </a:r>
            <a:r>
              <a:rPr lang="es-CO" dirty="0"/>
              <a:t> ut </a:t>
            </a:r>
            <a:r>
              <a:rPr lang="es-CO" dirty="0" err="1"/>
              <a:t>aliquip</a:t>
            </a:r>
            <a:r>
              <a:rPr lang="es-CO" dirty="0"/>
              <a:t> ex </a:t>
            </a:r>
            <a:r>
              <a:rPr lang="es-CO" dirty="0" err="1"/>
              <a:t>ea</a:t>
            </a:r>
            <a:r>
              <a:rPr lang="es-CO" dirty="0"/>
              <a:t> commodo </a:t>
            </a:r>
            <a:r>
              <a:rPr lang="es-CO" dirty="0" err="1"/>
              <a:t>consequat</a:t>
            </a:r>
            <a:r>
              <a:rPr lang="es-CO" dirty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 err="1"/>
              <a:t>Duis</a:t>
            </a:r>
            <a:r>
              <a:rPr lang="es-CO" dirty="0"/>
              <a:t> </a:t>
            </a:r>
            <a:r>
              <a:rPr lang="es-CO" dirty="0" err="1"/>
              <a:t>aute</a:t>
            </a:r>
            <a:r>
              <a:rPr lang="es-CO" dirty="0"/>
              <a:t> </a:t>
            </a:r>
            <a:r>
              <a:rPr lang="es-CO" dirty="0" err="1"/>
              <a:t>irure</a:t>
            </a:r>
            <a:r>
              <a:rPr lang="es-CO" dirty="0"/>
              <a:t> dolor in </a:t>
            </a:r>
            <a:r>
              <a:rPr lang="es-CO" dirty="0" err="1"/>
              <a:t>reprehenderit</a:t>
            </a:r>
            <a:r>
              <a:rPr lang="es-CO" dirty="0"/>
              <a:t> in </a:t>
            </a:r>
            <a:r>
              <a:rPr lang="es-CO" dirty="0" err="1"/>
              <a:t>voluptate</a:t>
            </a:r>
            <a:r>
              <a:rPr lang="es-CO" dirty="0"/>
              <a:t> </a:t>
            </a:r>
            <a:r>
              <a:rPr lang="es-CO" dirty="0" err="1"/>
              <a:t>velit</a:t>
            </a:r>
            <a:r>
              <a:rPr lang="es-CO" dirty="0"/>
              <a:t> </a:t>
            </a:r>
            <a:r>
              <a:rPr lang="es-CO" dirty="0" err="1"/>
              <a:t>esse</a:t>
            </a:r>
            <a:r>
              <a:rPr lang="es-CO" dirty="0"/>
              <a:t> </a:t>
            </a:r>
            <a:r>
              <a:rPr lang="es-CO" dirty="0" err="1"/>
              <a:t>cillum</a:t>
            </a:r>
            <a:r>
              <a:rPr lang="es-CO" dirty="0"/>
              <a:t> </a:t>
            </a:r>
            <a:r>
              <a:rPr lang="es-CO" dirty="0" err="1"/>
              <a:t>dolore</a:t>
            </a:r>
            <a:r>
              <a:rPr lang="es-CO" dirty="0"/>
              <a:t> </a:t>
            </a:r>
            <a:r>
              <a:rPr lang="es-CO" dirty="0" err="1"/>
              <a:t>eu</a:t>
            </a:r>
            <a:r>
              <a:rPr lang="es-CO" dirty="0"/>
              <a:t> </a:t>
            </a:r>
            <a:r>
              <a:rPr lang="es-CO" dirty="0" err="1"/>
              <a:t>fugiat</a:t>
            </a:r>
            <a:r>
              <a:rPr lang="es-CO" dirty="0"/>
              <a:t> </a:t>
            </a:r>
            <a:r>
              <a:rPr lang="es-CO" dirty="0" err="1"/>
              <a:t>nulla</a:t>
            </a:r>
            <a:r>
              <a:rPr lang="es-CO" dirty="0"/>
              <a:t> </a:t>
            </a:r>
            <a:r>
              <a:rPr lang="es-CO" dirty="0" err="1"/>
              <a:t>pariatur</a:t>
            </a:r>
            <a:r>
              <a:rPr lang="es-CO" dirty="0"/>
              <a:t>.</a:t>
            </a:r>
          </a:p>
          <a:p>
            <a:pPr marL="342900" indent="-342900">
              <a:lnSpc>
                <a:spcPct val="150000"/>
              </a:lnSpc>
              <a:buClr>
                <a:schemeClr val="accent4"/>
              </a:buClr>
              <a:buFont typeface="+mj-lt"/>
              <a:buAutoNum type="arabicPeriod"/>
            </a:pPr>
            <a:r>
              <a:rPr lang="es-CO" dirty="0" err="1"/>
              <a:t>Excepteur</a:t>
            </a:r>
            <a:r>
              <a:rPr lang="es-CO" dirty="0"/>
              <a:t> </a:t>
            </a:r>
            <a:r>
              <a:rPr lang="es-CO" dirty="0" err="1"/>
              <a:t>sint</a:t>
            </a:r>
            <a:r>
              <a:rPr lang="es-CO" dirty="0"/>
              <a:t> </a:t>
            </a:r>
            <a:r>
              <a:rPr lang="es-CO" dirty="0" err="1"/>
              <a:t>occaecat</a:t>
            </a:r>
            <a:r>
              <a:rPr lang="es-CO" dirty="0"/>
              <a:t> </a:t>
            </a:r>
            <a:r>
              <a:rPr lang="es-CO" dirty="0" err="1"/>
              <a:t>cupidatat</a:t>
            </a:r>
            <a:r>
              <a:rPr lang="es-CO" dirty="0"/>
              <a:t> non </a:t>
            </a:r>
            <a:r>
              <a:rPr lang="es-CO" dirty="0" err="1"/>
              <a:t>proident</a:t>
            </a:r>
            <a:r>
              <a:rPr lang="es-CO" dirty="0"/>
              <a:t>, sunt in culpa qui </a:t>
            </a:r>
            <a:r>
              <a:rPr lang="es-CO" dirty="0" err="1"/>
              <a:t>officia</a:t>
            </a:r>
            <a:r>
              <a:rPr lang="es-CO" dirty="0"/>
              <a:t> </a:t>
            </a:r>
            <a:r>
              <a:rPr lang="es-CO" dirty="0" err="1"/>
              <a:t>deserunt</a:t>
            </a:r>
            <a:r>
              <a:rPr lang="es-CO" dirty="0"/>
              <a:t> </a:t>
            </a:r>
            <a:r>
              <a:rPr lang="es-CO" dirty="0" err="1"/>
              <a:t>mollit</a:t>
            </a:r>
            <a:r>
              <a:rPr lang="es-CO" dirty="0"/>
              <a:t> </a:t>
            </a:r>
            <a:r>
              <a:rPr lang="es-CO" dirty="0" err="1"/>
              <a:t>anim</a:t>
            </a:r>
            <a:r>
              <a:rPr lang="es-CO" dirty="0"/>
              <a:t> id </a:t>
            </a:r>
            <a:r>
              <a:rPr lang="es-CO" dirty="0" err="1"/>
              <a:t>est</a:t>
            </a:r>
            <a:r>
              <a:rPr lang="es-CO" dirty="0"/>
              <a:t> </a:t>
            </a:r>
            <a:r>
              <a:rPr lang="es-CO" dirty="0" err="1"/>
              <a:t>laborum</a:t>
            </a:r>
            <a:r>
              <a:rPr lang="es-CO" dirty="0"/>
              <a:t>.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794259-7C99-3FAB-188D-D34970788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43790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/>
          <p:cNvSpPr txBox="1"/>
          <p:nvPr/>
        </p:nvSpPr>
        <p:spPr>
          <a:xfrm>
            <a:off x="3514723" y="2190490"/>
            <a:ext cx="2093483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ro-RO" sz="3200" i="1" dirty="0">
                <a:solidFill>
                  <a:schemeClr val="bg2"/>
                </a:solidFill>
                <a:latin typeface="Ancizar Serif"/>
                <a:cs typeface="Ancizar Serif"/>
              </a:rPr>
              <a:t>Gracias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246A0C8-F2FD-4F7E-1C1F-1636098F9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C2BA4-81C0-F544-BD72-C8CB9DA7C802}" type="slidenum">
              <a:rPr lang="es-ES" smtClean="0"/>
              <a:pPr/>
              <a:t>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2190908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-presentacion">
  <a:themeElements>
    <a:clrScheme name="UNAL 2024">
      <a:dk1>
        <a:srgbClr val="29272D"/>
      </a:dk1>
      <a:lt1>
        <a:srgbClr val="F7F5F2"/>
      </a:lt1>
      <a:dk2>
        <a:srgbClr val="481F63"/>
      </a:dk2>
      <a:lt2>
        <a:srgbClr val="F8ECCD"/>
      </a:lt2>
      <a:accent1>
        <a:srgbClr val="620C78"/>
      </a:accent1>
      <a:accent2>
        <a:srgbClr val="FFB93E"/>
      </a:accent2>
      <a:accent3>
        <a:srgbClr val="06784F"/>
      </a:accent3>
      <a:accent4>
        <a:srgbClr val="14C486"/>
      </a:accent4>
      <a:accent5>
        <a:srgbClr val="9F00C4"/>
      </a:accent5>
      <a:accent6>
        <a:srgbClr val="F79646"/>
      </a:accent6>
      <a:hlink>
        <a:srgbClr val="14C486"/>
      </a:hlink>
      <a:folHlink>
        <a:srgbClr val="9F00C4"/>
      </a:folHlink>
    </a:clrScheme>
    <a:fontScheme name="OCE">
      <a:majorFont>
        <a:latin typeface="Ancizar Serif Extrabold"/>
        <a:ea typeface=""/>
        <a:cs typeface=""/>
      </a:majorFont>
      <a:minorFont>
        <a:latin typeface="Anciza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1563</TotalTime>
  <Words>614</Words>
  <Application>Microsoft Office PowerPoint</Application>
  <PresentationFormat>Presentación en pantalla (16:9)</PresentationFormat>
  <Paragraphs>153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2" baseType="lpstr">
      <vt:lpstr>Ancizar Sans</vt:lpstr>
      <vt:lpstr>Ancizar Sans Light</vt:lpstr>
      <vt:lpstr>Ancizar Serif</vt:lpstr>
      <vt:lpstr>Ancizar Serif Extrabold</vt:lpstr>
      <vt:lpstr>Aptos</vt:lpstr>
      <vt:lpstr>Arial</vt:lpstr>
      <vt:lpstr>Plantilla-presentacion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Paola</dc:creator>
  <cp:lastModifiedBy>Carlos Andres Cardenas Ballares</cp:lastModifiedBy>
  <cp:revision>11</cp:revision>
  <dcterms:created xsi:type="dcterms:W3CDTF">2024-06-25T17:03:54Z</dcterms:created>
  <dcterms:modified xsi:type="dcterms:W3CDTF">2025-12-05T01:15:15Z</dcterms:modified>
</cp:coreProperties>
</file>